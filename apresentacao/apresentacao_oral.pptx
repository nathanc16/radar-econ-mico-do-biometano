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Radar Econômico do Biometano</a:t>
            </a:r>
          </a:p>
          <a:p>
            <a:r>
              <a:rPr sz="2000">
                <a:solidFill>
                  <a:srgbClr val="9ED9CC"/>
                </a:solidFill>
              </a:rPr>
              <a:t>Painel analítico do mercado brasileiro de biogás/biometano e posicionamento da 4WaTT</a:t>
            </a:r>
          </a:p>
          <a:p>
            <a:pPr>
              <a:spcBef>
                <a:spcPts val="2800"/>
              </a:spcBef>
            </a:pPr>
            <a:r>
              <a:rPr sz="1600">
                <a:solidFill>
                  <a:srgbClr val="C9B8C6"/>
                </a:solidFill>
              </a:rPr>
              <a:t>Projeto Integrador V-A — Big Data e Inteligência Artificial</a:t>
            </a:r>
          </a:p>
          <a:p>
            <a:r>
              <a:rPr sz="1600">
                <a:solidFill>
                  <a:srgbClr val="C9B8C6"/>
                </a:solidFill>
              </a:rPr>
              <a:t>Nathan Crystiano França · outubro/2026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3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A organização parceira</a:t>
            </a:r>
          </a:p>
          <a:p>
            <a:r>
              <a:rPr sz="1500">
                <a:solidFill>
                  <a:srgbClr val="6E6470"/>
                </a:solidFill>
              </a:rPr>
              <a:t>4WaTT Bio Engenharia S/A — Goiânia/GO · bioengenharia de resíduos orgânicos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A0720"/>
                </a:solidFill>
              </a:rPr>
              <a:t>Converte resíduo em energia (biogás e biometano) com ciclo completo: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•  EVTE + business plan: estudo de viabilidade técnico-econômica e calculadora de pré-viabilidade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•  EPC: construção turn-key de usinas de biodigestão e refinarias de biometano (BOT / EPCM)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•  O&amp;M: operação e manutenção recorrente com SCADA, automação e portal de indicadores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•  Finance: assessoria de captação bancária para CAPEX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57A64"/>
                </a:solidFill>
              </a:rPr>
              <a:t>Projetos públicos: CEASA Goiás (O&amp;M) · Frigorífico Franca (2.800 Nm³/d em operação) · UTB Franca (biometano de curtume, em obra) · Organo Buritis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6E6470"/>
                </a:solidFill>
              </a:rPr>
              <a:t>Nota de escopo: biometano = biogás refinado (~99% CH4, equivalente ao gás natural) — a camada regulada pela ANP onde o EPC/O&amp;M é vendido; o core de biogás da 4WaTT segue outra regulação.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A necessidade identificada</a:t>
            </a:r>
          </a:p>
          <a:p>
            <a:r>
              <a:rPr sz="1500">
                <a:solidFill>
                  <a:srgbClr val="6E6470"/>
                </a:solidFill>
              </a:rPr>
              <a:t>público: diretoria e equipes comercial e de engenharia da 4WaTT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A0720"/>
                </a:solidFill>
              </a:rPr>
              <a:t>O mercado de biometano vive expansão acelerada — e a 4WaTT precisa decidir, com dados: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1. Onde prospectar? Quais estados, municípios e substratos têm espaço para crescer?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2. Que argumentos de mercado usar em EVTEs e apresentações a investidores e financiadores?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3. O que acompanhar mês a mês para antecipar demanda por EPC e O&amp;M?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6E6470"/>
                </a:solidFill>
              </a:rPr>
              <a:t>Hoje essa leitura está dispersa em boletins em PDF e notícias.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57A64"/>
                </a:solidFill>
              </a:rPr>
              <a:t>Solução: painel analítico open source com dados públicos, KPIs justificados, filtros e narrativa de data storytelling.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Interação com a organização</a:t>
            </a:r>
          </a:p>
          <a:p>
            <a:r>
              <a:rPr sz="1500">
                <a:solidFill>
                  <a:srgbClr val="6E6470"/>
                </a:solidFill>
              </a:rPr>
              <a:t>como o problema e a solução foram construídos com a 4WaTT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A0720"/>
                </a:solidFill>
              </a:rPr>
              <a:t>1.  Alinhamento do escopo com a equipe da 4WaTT: identificação do problema de inteligência de mercado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A0720"/>
                </a:solidFill>
              </a:rPr>
              <a:t>2.  Definição conjunta dos KPIs e das fontes (boletim IEPUC/ANP, RenovaBio, site da empresa)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A0720"/>
                </a:solidFill>
              </a:rPr>
              <a:t>3.  Validação intermediária do painel com a equipe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A0720"/>
                </a:solidFill>
              </a:rPr>
              <a:t>4.  Apresentação interna dos resultados e coleta de feedback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E6470"/>
                </a:solidFill>
              </a:rPr>
              <a:t>Datas, formatos e participantes: registrados no Relatório de Atividades Extensionistas e em documentos/evidencias/.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57A64"/>
                </a:solidFill>
              </a:rPr>
              <a:t>Vínculo formal: estágio curricular na 4WaTT + termo de formalização da atividade de extensão (PUC Goiás).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Método e stack (100% open source)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Fontes: Boletim IEPUC-PUC-Rio ago/2026 (ANP · MME · B3) · dados abertos da ANP (produção, usinas e preços de combustíveis) · IBGE (rebanhos) · Panorama do Biometano em Goiás · site da 4WaTT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A0720"/>
                </a:solidFill>
              </a:rPr>
              <a:t>Pandas → 16 bases (CSV)   |   Plotly → gráficos interativos   |   Streamlit → painel com 7 abas, filtros e tema escuro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Qualidade: 83 verificações automatizadas — busca de cada valor no texto dos PDFs e validação cruzada IEPUC × dados abertos da ANP (diferença &lt; 0,5 mil m³/d em 2026)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Reprodutível: requirements.txt + README + notebook de EDA + cópia das fontes em dados/brutos/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E6470"/>
                </a:solidFill>
              </a:rPr>
              <a:t>Unidade do boletim: Mm³/d = mil m³ por dia (no painel: "mil m³/d").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Indicadores (KPIs) e por que importam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>
                    <a:solidFill>
                      <a:srgbClr val="2A0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Decisão que apoia</a:t>
                      </a:r>
                    </a:p>
                  </a:txBody>
                  <a:tcPr>
                    <a:solidFill>
                      <a:srgbClr val="2A07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Produção nacional e crescimento (mil m³/d, % a.a.)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Tamanho e ritmo da oportunidade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Capacidade autorizada × em tramitação (ANP)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Demanda futura por engenharia (EPC) e operação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Concentração por estado e matéria-prima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Onde o mercado ainda não está: regiões e substratos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Utilização da capacidade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Usinas ociosas = demanda por O&amp;M e otimização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Contratos e transações anunciadas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Prova de demanda para EVTE e investidores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CBio: preço e intensidade de carbono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Segunda receita por m³ na tese de viabilidade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Potencial de biogás em Goiás (fonte × município)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A0720"/>
                          </a:solidFill>
                        </a:rPr>
                        <a:t>Priorização da prospecção no estado-sede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O mercado: produção em expansão acelerada</a:t>
            </a:r>
          </a:p>
          <a:p>
            <a:r>
              <a:rPr sz="1500">
                <a:solidFill>
                  <a:srgbClr val="6E6470"/>
                </a:solidFill>
              </a:rPr>
              <a:t>média jan–ago/26 ~54% acima do mesmo período de 2025 (dados abertos ANP) · 7,6× desde jan/2020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51760" cy="1463040"/>
          </a:xfrm>
          <a:prstGeom prst="roundRect">
            <a:avLst/>
          </a:prstGeom>
          <a:solidFill>
            <a:srgbClr val="F4F1EB"/>
          </a:solidFill>
          <a:ln w="15240">
            <a:solidFill>
              <a:srgbClr val="057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2000" b="1">
                <a:solidFill>
                  <a:srgbClr val="057A64"/>
                </a:solidFill>
              </a:rPr>
              <a:t>466</a:t>
            </a:r>
          </a:p>
          <a:p>
            <a:r>
              <a:rPr sz="1300">
                <a:solidFill>
                  <a:srgbClr val="2A0720"/>
                </a:solidFill>
              </a:rPr>
              <a:t>Produção média jan–ago/26 (mil m³/d)</a:t>
            </a:r>
          </a:p>
          <a:p>
            <a:r>
              <a:rPr sz="1100">
                <a:solidFill>
                  <a:srgbClr val="6E6470"/>
                </a:solidFill>
              </a:rPr>
              <a:t>+54% vs jan–ago/25 (ANP)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03120"/>
            <a:ext cx="2651760" cy="1463040"/>
          </a:xfrm>
          <a:prstGeom prst="roundRect">
            <a:avLst/>
          </a:prstGeom>
          <a:solidFill>
            <a:srgbClr val="F4F1EB"/>
          </a:solidFill>
          <a:ln w="15240">
            <a:solidFill>
              <a:srgbClr val="057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2000" b="1">
                <a:solidFill>
                  <a:srgbClr val="057A64"/>
                </a:solidFill>
              </a:rPr>
              <a:t>1.368</a:t>
            </a:r>
          </a:p>
          <a:p>
            <a:r>
              <a:rPr sz="1300">
                <a:solidFill>
                  <a:srgbClr val="2A0720"/>
                </a:solidFill>
              </a:rPr>
              <a:t>Capacidade autorizada (mil m³/d)</a:t>
            </a:r>
          </a:p>
          <a:p>
            <a:r>
              <a:rPr sz="1100">
                <a:solidFill>
                  <a:srgbClr val="6E6470"/>
                </a:solidFill>
              </a:rPr>
              <a:t>697 em jun/25 → dobrou em 1 ano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2651760" cy="1463040"/>
          </a:xfrm>
          <a:prstGeom prst="roundRect">
            <a:avLst/>
          </a:prstGeom>
          <a:solidFill>
            <a:srgbClr val="F4F1EB"/>
          </a:solidFill>
          <a:ln w="15240">
            <a:solidFill>
              <a:srgbClr val="057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2000" b="1">
                <a:solidFill>
                  <a:srgbClr val="057A64"/>
                </a:solidFill>
              </a:rPr>
              <a:t>2.023</a:t>
            </a:r>
          </a:p>
          <a:p>
            <a:r>
              <a:rPr sz="1300">
                <a:solidFill>
                  <a:srgbClr val="2A0720"/>
                </a:solidFill>
              </a:rPr>
              <a:t>Em tramitação — 49 pedidos (mil m³/d)</a:t>
            </a:r>
          </a:p>
          <a:p>
            <a:r>
              <a:rPr sz="1100">
                <a:solidFill>
                  <a:srgbClr val="6E6470"/>
                </a:solidFill>
              </a:rPr>
              <a:t>projeção IEPUC: 3.391 até dez/28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103120"/>
            <a:ext cx="2468880" cy="1463040"/>
          </a:xfrm>
          <a:prstGeom prst="roundRect">
            <a:avLst/>
          </a:prstGeom>
          <a:solidFill>
            <a:srgbClr val="F4F1EB"/>
          </a:solidFill>
          <a:ln w="15240">
            <a:solidFill>
              <a:srgbClr val="9A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2000" b="1">
                <a:solidFill>
                  <a:srgbClr val="9A7400"/>
                </a:solidFill>
              </a:rPr>
              <a:t>38,7%</a:t>
            </a:r>
          </a:p>
          <a:p>
            <a:r>
              <a:rPr sz="1300">
                <a:solidFill>
                  <a:srgbClr val="2A0720"/>
                </a:solidFill>
              </a:rPr>
              <a:t>Utilização da capacidade</a:t>
            </a:r>
          </a:p>
          <a:p>
            <a:r>
              <a:rPr sz="1100">
                <a:solidFill>
                  <a:srgbClr val="6E6470"/>
                </a:solidFill>
              </a:rPr>
              <a:t>sucroenergético: 27,2%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57A64"/>
                </a:solidFill>
              </a:rPr>
              <a:t>Cada mil m³/d novo implica demanda por projeto, construção e operação — e a baixa utilização mostra que operar bem é um gargalo: o core da 4WaTT.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Concentração: onde o mercado já está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2A0720"/>
                </a:solidFill>
              </a:rPr>
              <a:t>•  SP (33,6%) + RJ (26,3%) ≈ 60% da produção nacional; top 5 estados ≈ 99%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A0720"/>
                </a:solidFill>
              </a:rPr>
              <a:t>•  Substratos: aterros sanitários ≈ 80% · sucroenergético ≈ 19% · outros ≈ 1%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A0720"/>
                </a:solidFill>
              </a:rPr>
              <a:t>•  Gás Verde = líder isolado: 139 mil m³/d ≈ 26% da produção nacional (ago/26)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2A0720"/>
                </a:solidFill>
              </a:rPr>
              <a:t>•  Só 9 estados têm usina autorizada; Norte nenhuma, Centro-Oeste uma (MS, sem produção)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9A7400"/>
                </a:solidFill>
              </a:rPr>
              <a:t>•  Goiás — sede da 4WaTT — NÃO tem nenhuma usina de biometano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57A64"/>
                </a:solidFill>
              </a:rPr>
              <a:t>Leitura: o crescimento veio concentrado em poucas UFs e num único substrato — o restante do mapa é fronteira.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Goiás: muito potencial, quase nenhuma produção</a:t>
            </a:r>
          </a:p>
          <a:p>
            <a:r>
              <a:rPr sz="1500">
                <a:solidFill>
                  <a:srgbClr val="6E6470"/>
                </a:solidFill>
              </a:rPr>
              <a:t>Panorama do Biometano em Goiás — Governo de Goiás/CBIE (2026), potencial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651760" cy="1463040"/>
          </a:xfrm>
          <a:prstGeom prst="roundRect">
            <a:avLst/>
          </a:prstGeom>
          <a:solidFill>
            <a:srgbClr val="F4F1EB"/>
          </a:solidFill>
          <a:ln w="15240">
            <a:solidFill>
              <a:srgbClr val="057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2000" b="1">
                <a:solidFill>
                  <a:srgbClr val="057A64"/>
                </a:solidFill>
              </a:rPr>
              <a:t>2,7</a:t>
            </a:r>
          </a:p>
          <a:p>
            <a:r>
              <a:rPr sz="1300">
                <a:solidFill>
                  <a:srgbClr val="2A0720"/>
                </a:solidFill>
              </a:rPr>
              <a:t>Potencial de biogás (bi m³/ano)</a:t>
            </a:r>
          </a:p>
          <a:p>
            <a:r>
              <a:rPr sz="1100">
                <a:solidFill>
                  <a:srgbClr val="6E6470"/>
                </a:solidFill>
              </a:rPr>
              <a:t>≈ 1,7 bi m³/ano de biometano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651760" cy="1463040"/>
          </a:xfrm>
          <a:prstGeom prst="roundRect">
            <a:avLst/>
          </a:prstGeom>
          <a:solidFill>
            <a:srgbClr val="F4F1EB"/>
          </a:solidFill>
          <a:ln w="15240">
            <a:solidFill>
              <a:srgbClr val="057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2000" b="1">
                <a:solidFill>
                  <a:srgbClr val="057A64"/>
                </a:solidFill>
              </a:rPr>
              <a:t>72%</a:t>
            </a:r>
          </a:p>
          <a:p>
            <a:r>
              <a:rPr sz="1300">
                <a:solidFill>
                  <a:srgbClr val="2A0720"/>
                </a:solidFill>
              </a:rPr>
              <a:t>Sucroenergético</a:t>
            </a:r>
          </a:p>
          <a:p>
            <a:r>
              <a:rPr sz="1100">
                <a:solidFill>
                  <a:srgbClr val="6E6470"/>
                </a:solidFill>
              </a:rPr>
              <a:t>vinhaça, torta de filtro, palha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2651760" cy="1463040"/>
          </a:xfrm>
          <a:prstGeom prst="roundRect">
            <a:avLst/>
          </a:prstGeom>
          <a:solidFill>
            <a:srgbClr val="F4F1EB"/>
          </a:solidFill>
          <a:ln w="15240">
            <a:solidFill>
              <a:srgbClr val="057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2000" b="1">
                <a:solidFill>
                  <a:srgbClr val="057A64"/>
                </a:solidFill>
              </a:rPr>
              <a:t>402</a:t>
            </a:r>
          </a:p>
          <a:p>
            <a:r>
              <a:rPr sz="1300">
                <a:solidFill>
                  <a:srgbClr val="2A0720"/>
                </a:solidFill>
              </a:rPr>
              <a:t>Pecuária (mi m³/ano)</a:t>
            </a:r>
          </a:p>
          <a:p>
            <a:r>
              <a:rPr sz="1100">
                <a:solidFill>
                  <a:srgbClr val="6E6470"/>
                </a:solidFill>
              </a:rPr>
              <a:t>dispersa: top 30 municípios = 32%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011680"/>
            <a:ext cx="2468880" cy="1463040"/>
          </a:xfrm>
          <a:prstGeom prst="roundRect">
            <a:avLst/>
          </a:prstGeom>
          <a:solidFill>
            <a:srgbClr val="F4F1EB"/>
          </a:solidFill>
          <a:ln w="15240">
            <a:solidFill>
              <a:srgbClr val="9A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2000" b="1">
                <a:solidFill>
                  <a:srgbClr val="9A7400"/>
                </a:solidFill>
              </a:rPr>
              <a:t>124</a:t>
            </a:r>
          </a:p>
          <a:p>
            <a:r>
              <a:rPr sz="1300">
                <a:solidFill>
                  <a:srgbClr val="2A0720"/>
                </a:solidFill>
              </a:rPr>
              <a:t>Goiânia — RSU (mi m³/ano)</a:t>
            </a:r>
          </a:p>
          <a:p>
            <a:r>
              <a:rPr sz="1100">
                <a:solidFill>
                  <a:srgbClr val="6E6470"/>
                </a:solidFill>
              </a:rPr>
              <a:t>34% do RSU do estado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•  Goiânia (sede e CEASA) é o maior potencial de RSU do estado → vitrine para replicar o modelo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•  Pecuária dispersa → plantas descentralizadas de médio porte: formato EPC + O&amp;M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•  Sucroenergético (Goiatuba, Edéia, Mineiros, Caçu) → frente de maior escala, via parcerias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•  Brasil (IBGE): GO é o 5º estado em potencial pecuário e o 2º em vacas ordenhadas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A0720"/>
                </a:solidFill>
              </a:rPr>
              <a:t>•  Sem mercado de GNV em GO: 1 m³ de biometano substitui ≈ R$ 6,12 em diesel — acima do GNV de qualquer estado (set/26)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Comercialização e receita de carbono</a:t>
            </a:r>
          </a:p>
          <a:p>
            <a:r>
              <a:rPr sz="1500">
                <a:solidFill>
                  <a:srgbClr val="6E6470"/>
                </a:solidFill>
              </a:rPr>
              <a:t>o mercado já compra — e o CBio soma uma segunda receita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51760" cy="1463040"/>
          </a:xfrm>
          <a:prstGeom prst="roundRect">
            <a:avLst/>
          </a:prstGeom>
          <a:solidFill>
            <a:srgbClr val="F4F1EB"/>
          </a:solidFill>
          <a:ln w="15240">
            <a:solidFill>
              <a:srgbClr val="057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2000" b="1">
                <a:solidFill>
                  <a:srgbClr val="057A64"/>
                </a:solidFill>
              </a:rPr>
              <a:t>55</a:t>
            </a:r>
          </a:p>
          <a:p>
            <a:r>
              <a:rPr sz="1300">
                <a:solidFill>
                  <a:srgbClr val="2A0720"/>
                </a:solidFill>
              </a:rPr>
              <a:t>Transações anunciadas (IEPUC)</a:t>
            </a:r>
          </a:p>
          <a:p>
            <a:r>
              <a:rPr sz="1100">
                <a:solidFill>
                  <a:srgbClr val="6E6470"/>
                </a:solidFill>
              </a:rPr>
              <a:t>GNC 71% · gasoduto 29%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03120"/>
            <a:ext cx="2651760" cy="1463040"/>
          </a:xfrm>
          <a:prstGeom prst="roundRect">
            <a:avLst/>
          </a:prstGeom>
          <a:solidFill>
            <a:srgbClr val="F4F1EB"/>
          </a:solidFill>
          <a:ln w="15240">
            <a:solidFill>
              <a:srgbClr val="057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2000" b="1">
                <a:solidFill>
                  <a:srgbClr val="057A64"/>
                </a:solidFill>
              </a:rPr>
              <a:t>30 de 55</a:t>
            </a:r>
          </a:p>
          <a:p>
            <a:r>
              <a:rPr sz="1300">
                <a:solidFill>
                  <a:srgbClr val="2A0720"/>
                </a:solidFill>
              </a:rPr>
              <a:t>Compradores industriais</a:t>
            </a:r>
          </a:p>
          <a:p>
            <a:r>
              <a:rPr sz="1100">
                <a:solidFill>
                  <a:srgbClr val="6E6470"/>
                </a:solidFill>
              </a:rPr>
              <a:t>setor industrial concentra a demanda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2651760" cy="1463040"/>
          </a:xfrm>
          <a:prstGeom prst="roundRect">
            <a:avLst/>
          </a:prstGeom>
          <a:solidFill>
            <a:srgbClr val="F4F1EB"/>
          </a:solidFill>
          <a:ln w="15240">
            <a:solidFill>
              <a:srgbClr val="057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2000" b="1">
                <a:solidFill>
                  <a:srgbClr val="057A64"/>
                </a:solidFill>
              </a:rPr>
              <a:t>24,53</a:t>
            </a:r>
          </a:p>
          <a:p>
            <a:r>
              <a:rPr sz="1300">
                <a:solidFill>
                  <a:srgbClr val="2A0720"/>
                </a:solidFill>
              </a:rPr>
              <a:t>Preço médio CBio ago/26 (R$)</a:t>
            </a:r>
          </a:p>
          <a:p>
            <a:r>
              <a:rPr sz="1100">
                <a:solidFill>
                  <a:srgbClr val="6E6470"/>
                </a:solidFill>
              </a:rPr>
              <a:t>1 CBio = 1 tCO₂eq evitada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103120"/>
            <a:ext cx="2468880" cy="1463040"/>
          </a:xfrm>
          <a:prstGeom prst="roundRect">
            <a:avLst/>
          </a:prstGeom>
          <a:solidFill>
            <a:srgbClr val="F4F1EB"/>
          </a:solidFill>
          <a:ln w="15240">
            <a:solidFill>
              <a:srgbClr val="057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2000" b="1">
                <a:solidFill>
                  <a:srgbClr val="057A64"/>
                </a:solidFill>
              </a:rPr>
              <a:t>10</a:t>
            </a:r>
          </a:p>
          <a:p>
            <a:r>
              <a:rPr sz="1300">
                <a:solidFill>
                  <a:srgbClr val="2A0720"/>
                </a:solidFill>
              </a:rPr>
              <a:t>Usinas certificadas RenovaBio</a:t>
            </a:r>
          </a:p>
          <a:p>
            <a:r>
              <a:rPr sz="1100">
                <a:solidFill>
                  <a:srgbClr val="6E6470"/>
                </a:solidFill>
              </a:rPr>
              <a:t>19,5 mil CBios emitidos em ago/26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57A64"/>
                </a:solidFill>
              </a:rPr>
              <a:t>GNC (caminhão) viabiliza usinas longe de gasodutos — como no interior de Goiás. Argumento de EVTE: cada m³ vendido por usina certificada carrega dois fluxos — energia + carbono.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O portfolio da 4WaTT no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A0720"/>
                </a:solidFill>
              </a:rPr>
              <a:t>•  CEASA Goiás (Goiânia/GO): O&amp;M de 600 t/mês de resíduos; R$ 1,6 mi investidos em novos projetos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A0720"/>
                </a:solidFill>
              </a:rPr>
              <a:t>•  Frigorífico Franca (SP): projeto executivo de biodigestão — 2.800 Nm³/dia de biogás, em operação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A0720"/>
                </a:solidFill>
              </a:rPr>
              <a:t>•  UTB Franca (SP): biometano a partir de resíduo de curtume — obras em estágio avançado, licença ambiental emitida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A0720"/>
                </a:solidFill>
              </a:rPr>
              <a:t>•  Organo Buritis (Palmeiras de Goiás/GO): resíduo orgânico em biofertilizante e energia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57A64"/>
                </a:solidFill>
              </a:rPr>
              <a:t>Cobre os três estágios do ciclo (operação → construção → projeto industrial em operação) e o mix de substratos minoritário no mercado nacional (~20% da produção fora de aterros).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Funcionamento do painel</a:t>
            </a:r>
          </a:p>
          <a:p>
            <a:r>
              <a:rPr sz="1500">
                <a:solidFill>
                  <a:srgbClr val="6E6470"/>
                </a:solidFill>
              </a:rPr>
              <a:t>7 abas · tema claro/escuro · filtros na barra lateral e em cada aba · dados para download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12</a:t>
            </a:r>
          </a:p>
        </p:txBody>
      </p:sp>
      <p:pic>
        <p:nvPicPr>
          <p:cNvPr id="5" name="Picture 4" descr="painel_visao_g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67" y="1417320"/>
            <a:ext cx="8696960" cy="4892040"/>
          </a:xfrm>
          <a:prstGeom prst="rect">
            <a:avLst/>
          </a:prstGeom>
          <a:ln>
            <a:solidFill>
              <a:srgbClr val="D6CFC4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Funcionamento: aba Oportunidades (Goiás em detalhe)</a:t>
            </a:r>
          </a:p>
          <a:p>
            <a:r>
              <a:rPr sz="1500">
                <a:solidFill>
                  <a:srgbClr val="6E6470"/>
                </a:solidFill>
              </a:rPr>
              <a:t>filtros por fonte de resíduo e quantidade de municípios; hover com valores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13</a:t>
            </a:r>
          </a:p>
        </p:txBody>
      </p:sp>
      <p:pic>
        <p:nvPicPr>
          <p:cNvPr id="5" name="Picture 4" descr="painel_go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67" y="1417320"/>
            <a:ext cx="8696960" cy="4892040"/>
          </a:xfrm>
          <a:prstGeom prst="rect">
            <a:avLst/>
          </a:prstGeom>
          <a:ln>
            <a:solidFill>
              <a:srgbClr val="D6CFC4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Escolhas de visualização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438912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Pergunta</a:t>
                      </a:r>
                    </a:p>
                  </a:txBody>
                  <a:tcPr>
                    <a:solidFill>
                      <a:srgbClr val="2A0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Gráfico</a:t>
                      </a:r>
                    </a:p>
                  </a:txBody>
                  <a:tcPr>
                    <a:solidFill>
                      <a:srgbClr val="2A0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Por quê</a:t>
                      </a:r>
                    </a:p>
                  </a:txBody>
                  <a:tcPr>
                    <a:solidFill>
                      <a:srgbClr val="2A07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Como evolui a produção?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Linha + referência 2025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Tendência temporal; eixo a partir de zero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Onde está a produção?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Mapa coroplético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Leitura territorial; sem dado ≠ valor baixo (cinza)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Qual a composição?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Rosca (3 fatias)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Partes de um todo com poucas categorias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Quem produz mais?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Barras horizontais ordenadas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Rótulos longos; variação % no rótulo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Onde está o potencial em GO?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Barras empilhadas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0720"/>
                          </a:solidFill>
                        </a:rPr>
                        <a:t>Ranking + composição por fonte</a:t>
                      </a:r>
                    </a:p>
                  </a:txBody>
                  <a:tcPr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6E6470"/>
                </a:solidFill>
              </a:rPr>
              <a:t>Paleta da marca 4WaTT com significado fixo: verde = sucroenergético/série principal, roxo = resíduo urbano, dourado = pecuária/outros · números no padrão brasileiro · títulos que afirmam o achado · blocos "Insight para a 4WaTT" em cada aba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Narrativa (data storytelling)</a:t>
            </a:r>
          </a:p>
          <a:p>
            <a:r>
              <a:rPr sz="1500">
                <a:solidFill>
                  <a:srgbClr val="6E6470"/>
                </a:solidFill>
              </a:rPr>
              <a:t>contexto → tensão → leitura →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2A0720"/>
                </a:solidFill>
              </a:rPr>
              <a:t>1. Contexto — Visão Geral: o mercado cresce rápido (produção, capacidade, contratos)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A0720"/>
                </a:solidFill>
              </a:rPr>
              <a:t>2. Tensão — Produção / Mercado: crescimento concentrado em 5 estados e em aterros; usinas ociosas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A0720"/>
                </a:solidFill>
              </a:rPr>
              <a:t>3. Leitura — Goiás &amp; Portfolio: o estado-sede tem potencial e quase nenhuma produção; o portfolio já atua nesse espaço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A0720"/>
                </a:solidFill>
              </a:rPr>
              <a:t>4. Ação — blocos de insight: onde prospectar, como argumentar, o que monitorar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A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Insights e recomendações</a:t>
            </a:r>
          </a:p>
          <a:p>
            <a:r>
              <a:rPr sz="1500">
                <a:solidFill>
                  <a:srgbClr val="6E6470"/>
                </a:solidFill>
              </a:rPr>
              <a:t>o que o painel diz para a 4WaTT fazer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0720"/>
                </a:solidFill>
              </a:rPr>
              <a:t>1. Priorizar Goiás: RSU em Goiânia (vitrine CEASA), pecuária dispersa (Rio Verde, Jataí) e parcerias sucroenergéticas no sul e sudoeste goianos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A0720"/>
                </a:solidFill>
              </a:rPr>
              <a:t>2. Oferecer O&amp;M e otimização: o parque opera a 38,7% da capacidade autorizada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A0720"/>
                </a:solidFill>
              </a:rPr>
              <a:t>3. Usar os KPIs em EVTEs e com investidores: crescimento + CBio = tese de viabilidade robusta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A0720"/>
                </a:solidFill>
              </a:rPr>
              <a:t>4. Monitorar mensalmente o boletim IEPUC — o pipeline ANP é o termômetro da demanda por EPC/O&amp;M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6E6470"/>
                </a:solidFill>
              </a:rPr>
              <a:t>Evoluções: pipeline comercial interno, preços de substituição e atualização automática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0720"/>
                </a:solidFill>
              </a:rPr>
              <a:t>Contribuições e experiência extensionista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6470"/>
                </a:solidFill>
              </a:rPr>
              <a:t>PI V-A · Big Data e IA · PUC-Goiás — 4WaTT Bio Engenharia S/A      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57A64"/>
                </a:solidFill>
              </a:rPr>
              <a:t>Para a 4WaTT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0720"/>
                </a:solidFill>
              </a:rPr>
              <a:t>•  Painel reutilizável, bases validadas e recomendações acionáveis para prospecção e EVTE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0720"/>
                </a:solidFill>
              </a:rPr>
              <a:t>•  Rotina de monitoramento mensal do mercado com fontes públicas e rastreáveis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57A64"/>
                </a:solidFill>
              </a:rPr>
              <a:t>Para a formação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0720"/>
                </a:solidFill>
              </a:rPr>
              <a:t>•  BI e visualização aplicados a uma necessidade real, definida com a organização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0720"/>
                </a:solidFill>
              </a:rPr>
              <a:t>•  Trabalho com fontes heterogêneas (PDFs, sites), validação de dados e comunicação para decisores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A0720"/>
                </a:solidFill>
              </a:rPr>
              <a:t>•  Relação universidade × empresa no setor de energia renovável e economia circular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57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Obrigado.</a:t>
            </a:r>
          </a:p>
          <a:p>
            <a:r>
              <a:rPr sz="1500">
                <a:solidFill>
                  <a:srgbClr val="C9B8C6"/>
                </a:solidFill>
              </a:rPr>
              <a:t>Painel: app/app.py · Relatório: relatorio/ · Dados: IEPUC-PUC-Rio (ago/2026) e Governo de Goiás (2026)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 Econômico do Biometano — Projeto Integrador V-A</dc:title>
  <dc:subject>Big Data e Inteligência Artificial — PUC Goiás · 4WaTT Bio Engenharia S/A</dc:subject>
  <dc:creator>Nathan Crystiano França</dc:creator>
  <cp:keywords/>
  <dc:description/>
  <cp:lastModifiedBy>Nathan Crystiano França</cp:lastModifiedBy>
  <cp:revision>1</cp:revision>
  <dcterms:created xsi:type="dcterms:W3CDTF">2013-01-27T09:14:16Z</dcterms:created>
  <dcterms:modified xsi:type="dcterms:W3CDTF">2013-01-27T09:15:58Z</dcterms:modified>
  <cp:category/>
</cp:coreProperties>
</file>